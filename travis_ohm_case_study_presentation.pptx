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1" r:id="rId5"/>
    <p:sldId id="264" r:id="rId6"/>
    <p:sldId id="259" r:id="rId7"/>
    <p:sldId id="260" r:id="rId8"/>
    <p:sldId id="265" r:id="rId9"/>
    <p:sldId id="271" r:id="rId10"/>
    <p:sldId id="262" r:id="rId11"/>
    <p:sldId id="263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37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4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04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310896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4206240" cy="2011680"/>
          </a:xfrm>
          <a:prstGeom prst="rect">
            <a:avLst/>
          </a:prstGeom>
          <a:solidFill>
            <a:srgbClr val="1A1414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4142232" cy="2743200"/>
          </a:xfrm>
          <a:prstGeom prst="rect">
            <a:avLst/>
          </a:prstGeom>
          <a:solidFill>
            <a:srgbClr val="B53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3108960"/>
            <a:ext cx="2743200" cy="3749040"/>
          </a:xfrm>
          <a:prstGeom prst="rect">
            <a:avLst/>
          </a:prstGeom>
          <a:solidFill>
            <a:srgbClr val="1A141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0" y="2743200"/>
            <a:ext cx="4142232" cy="4114800"/>
          </a:xfrm>
          <a:prstGeom prst="rect">
            <a:avLst/>
          </a:prstGeom>
          <a:solidFill>
            <a:srgbClr val="C6A15B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048" y="320041"/>
            <a:ext cx="12188952" cy="6858000"/>
          </a:xfrm>
          <a:prstGeom prst="rect">
            <a:avLst/>
          </a:prstGeom>
          <a:solidFill>
            <a:srgbClr val="5C0F17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INDEXING EMAIL CAMPAIGN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 Results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5806440"/>
            <a:ext cx="2011680" cy="0"/>
          </a:xfrm>
          <a:prstGeom prst="line">
            <a:avLst/>
          </a:prstGeom>
          <a:noFill/>
          <a:ln w="19050">
            <a:solidFill>
              <a:srgbClr val="C6A1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  |    CHIEF DATA &amp; ANALYTICS OFFICE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3093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Advisor Services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29F6A36-DDEE-E6E2-3AFE-A25294873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49463"/>
            <a:ext cx="1146693" cy="1146693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E0E30BBB-8856-AFAD-4ED7-8D11C6B28767}"/>
              </a:ext>
            </a:extLst>
          </p:cNvPr>
          <p:cNvSpPr txBox="1"/>
          <p:nvPr/>
        </p:nvSpPr>
        <p:spPr>
          <a:xfrm>
            <a:off x="822960" y="4297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Prepared by: Travis Ohm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256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50/50 Randomized Email Test to Drive DI Enrollment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Situation: Two email creatives were randomly assigned to eligible advisors to encourage enrollment in Vanguard’s Direct Indexing (DI) service.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The creative an advisor receives makes no difference.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4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3035808"/>
            <a:ext cx="31950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7/30/2020 – 8/29/2020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window — the one-month emails were sent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51960" y="28346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4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480560" y="3035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611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split between Email A and Email B creatives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8346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4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75320" y="3035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Datasets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611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enrollment status, and web traffic, joined on advisor ID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463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advisor who visited the sign-up section (reaching the “welcome” page) was considered to have at least tried to start enrollment.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possible for an advisor to receive both creatives — groups are mutually exclusive.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outcomes are of interest: did the creative affect: (1) access to the sign-up process, and (2) enrollment in DI?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256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Declaring Success: Questions &amp; Criteria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We’d Ask the Business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8892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 enrollment the end goal, or a proxy for AUM / revenue capture?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the email randomly distributed to advisors in this time-period?</a:t>
            </a:r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What is the content of each email narrative, and did they have the same objective  (send advisors to the sign-up link)?</a:t>
            </a:r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Is there a minimum sample size or duration the business would consider necessary before acting on a result like this?</a:t>
            </a:r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What are the other methods of encouraging advisors to enroll in the DI program?</a:t>
            </a:r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196596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65392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We’d Measure Success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78892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FontTx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the randomization produced genuinely comparable groups, a precondition for trusting either result . Utilizing Welch’s T. (slide 5) </a:t>
            </a:r>
          </a:p>
          <a:p>
            <a:pPr marL="177800" indent="-177800">
              <a:spcAft>
                <a:spcPts val="1000"/>
              </a:spcAft>
              <a:buSzPct val="100000"/>
              <a:buFontTx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drop in advisors accessing the sign-up page — a sign the creative isn’t off-putting. Utilizing two-proportion Z test. (slide 6)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statistically significant increase in DI enrollment for Email B vs. Email A, measured within the campaign window. Utilizing two-proportion Z test. (slide 7)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256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85853" y="1688007"/>
            <a:ext cx="5099375" cy="1309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Advisors Opened the Email and Clicked the Link?</a:t>
            </a:r>
            <a:endParaRPr lang="en-US" sz="28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3687C31-E6ED-77A1-980C-A8D78F823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994" y="1106414"/>
            <a:ext cx="4161935" cy="5422402"/>
          </a:xfrm>
          <a:prstGeom prst="rect">
            <a:avLst/>
          </a:prstGeom>
        </p:spPr>
      </p:pic>
      <p:sp>
        <p:nvSpPr>
          <p:cNvPr id="16" name="Shape 7">
            <a:extLst>
              <a:ext uri="{FF2B5EF4-FFF2-40B4-BE49-F238E27FC236}">
                <a16:creationId xmlns:a16="http://schemas.microsoft.com/office/drawing/2014/main" id="{458FAD35-21BD-0BD3-4B51-13F14A213C20}"/>
              </a:ext>
            </a:extLst>
          </p:cNvPr>
          <p:cNvSpPr/>
          <p:nvPr/>
        </p:nvSpPr>
        <p:spPr>
          <a:xfrm>
            <a:off x="828276" y="3255069"/>
            <a:ext cx="4614530" cy="632112"/>
          </a:xfrm>
          <a:prstGeom prst="roundRect">
            <a:avLst>
              <a:gd name="adj" fmla="val 3200"/>
            </a:avLst>
          </a:prstGeom>
          <a:solidFill>
            <a:srgbClr val="8E1B26"/>
          </a:solidFill>
          <a:ln/>
        </p:spPr>
        <p:txBody>
          <a:bodyPr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For Emails opened, there was a total of 3,136. 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Email A had 1280 and email B had 1856. 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25A9AFB2-0E28-9310-CD00-39EA39520F40}"/>
              </a:ext>
            </a:extLst>
          </p:cNvPr>
          <p:cNvSpPr/>
          <p:nvPr/>
        </p:nvSpPr>
        <p:spPr>
          <a:xfrm>
            <a:off x="828276" y="4119851"/>
            <a:ext cx="4614530" cy="632112"/>
          </a:xfrm>
          <a:prstGeom prst="roundRect">
            <a:avLst>
              <a:gd name="adj" fmla="val 3200"/>
            </a:avLst>
          </a:prstGeom>
          <a:solidFill>
            <a:srgbClr val="8E1B26"/>
          </a:solidFill>
          <a:ln/>
        </p:spPr>
        <p:txBody>
          <a:bodyPr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For links clicked, there was a total of 149. 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Email A had 60 and email B had 89. 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0DC15197-9512-890B-D159-2A927A51DCE7}"/>
              </a:ext>
            </a:extLst>
          </p:cNvPr>
          <p:cNvSpPr/>
          <p:nvPr/>
        </p:nvSpPr>
        <p:spPr>
          <a:xfrm>
            <a:off x="848477" y="5031922"/>
            <a:ext cx="4614530" cy="632112"/>
          </a:xfrm>
          <a:prstGeom prst="roundRect">
            <a:avLst>
              <a:gd name="adj" fmla="val 3200"/>
            </a:avLst>
          </a:prstGeom>
          <a:solidFill>
            <a:srgbClr val="8E1B26"/>
          </a:solidFill>
          <a:ln/>
        </p:spPr>
        <p:txBody>
          <a:bodyPr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Additionally, for bounced emails, there was a total of 31. Email A had 8 and Email B had 23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503AFA8F-CB8F-A447-947E-5668D0A22135}"/>
              </a:ext>
            </a:extLst>
          </p:cNvPr>
          <p:cNvSpPr/>
          <p:nvPr/>
        </p:nvSpPr>
        <p:spPr>
          <a:xfrm>
            <a:off x="10279557" y="941832"/>
            <a:ext cx="1828800" cy="320040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Code in step 8 of 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256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the Experiment Design Sound?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4F83B4-D29F-1BBB-E8AE-469800CA2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830" y="1537711"/>
            <a:ext cx="2205886" cy="44786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A159CE-ED49-26C4-7AEB-43186D65C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716" y="1635072"/>
            <a:ext cx="2205886" cy="4283894"/>
          </a:xfrm>
          <a:prstGeom prst="rect">
            <a:avLst/>
          </a:prstGeom>
        </p:spPr>
      </p:pic>
      <p:sp>
        <p:nvSpPr>
          <p:cNvPr id="14" name="Shape 1">
            <a:extLst>
              <a:ext uri="{FF2B5EF4-FFF2-40B4-BE49-F238E27FC236}">
                <a16:creationId xmlns:a16="http://schemas.microsoft.com/office/drawing/2014/main" id="{44917BD0-46AA-477F-4D23-76C1D7837927}"/>
              </a:ext>
            </a:extLst>
          </p:cNvPr>
          <p:cNvSpPr/>
          <p:nvPr/>
        </p:nvSpPr>
        <p:spPr>
          <a:xfrm>
            <a:off x="10279557" y="941832"/>
            <a:ext cx="1828800" cy="320040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Code in step 9 of notebook</a:t>
            </a:r>
          </a:p>
        </p:txBody>
      </p:sp>
      <p:sp>
        <p:nvSpPr>
          <p:cNvPr id="91" name="Callout Bar"/>
          <p:cNvSpPr/>
          <p:nvPr/>
        </p:nvSpPr>
        <p:spPr>
          <a:xfrm>
            <a:off x="315347" y="4151376"/>
            <a:ext cx="5645000" cy="868680"/>
          </a:xfrm>
          <a:prstGeom prst="roundRect">
            <a:avLst>
              <a:gd name="adj" fmla="val 14545"/>
            </a:avLst>
          </a:prstGeom>
          <a:solidFill>
            <a:srgbClr val="C6A15B"/>
          </a:solidFill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414"/>
                </a:solidFill>
                <a:latin typeface="Calibri" pitchFamily="34" charset="0"/>
              </a:rPr>
              <a:t>This isn’t random noise — it’s a near-perfect split on call_ct.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A1414"/>
                </a:solidFill>
                <a:latin typeface="Calibri" pitchFamily="34" charset="0"/>
              </a:rPr>
              <a:t>Treat the Slide 5 enrollment result with real caution until this is explained.</a:t>
            </a:r>
          </a:p>
        </p:txBody>
      </p:sp>
      <p:sp>
        <p:nvSpPr>
          <p:cNvPr id="92" name="Closing Note"/>
          <p:cNvSpPr txBox="1"/>
          <p:nvPr/>
        </p:nvSpPr>
        <p:spPr>
          <a:xfrm>
            <a:off x="457200" y="5943600"/>
            <a:ext cx="5645000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B5C56"/>
                </a:solidFill>
                <a:latin typeface="Calibri" pitchFamily="34" charset="0"/>
              </a:rPr>
              <a:t>Every other demographic checks out (</a:t>
            </a:r>
            <a:r>
              <a:rPr lang="en-US" sz="1300" i="1" dirty="0" err="1">
                <a:solidFill>
                  <a:srgbClr val="6B5C56"/>
                </a:solidFill>
                <a:latin typeface="Calibri" pitchFamily="34" charset="0"/>
              </a:rPr>
              <a:t>fund_ct</a:t>
            </a:r>
            <a:r>
              <a:rPr lang="en-US" sz="1300" i="1" dirty="0">
                <a:solidFill>
                  <a:srgbClr val="6B5C56"/>
                </a:solidFill>
                <a:latin typeface="Calibri" pitchFamily="34" charset="0"/>
              </a:rPr>
              <a:t>, </a:t>
            </a:r>
            <a:r>
              <a:rPr lang="en-US" sz="1300" i="1" dirty="0" err="1">
                <a:solidFill>
                  <a:srgbClr val="6B5C56"/>
                </a:solidFill>
                <a:latin typeface="Calibri" pitchFamily="34" charset="0"/>
              </a:rPr>
              <a:t>logon_ct</a:t>
            </a:r>
            <a:r>
              <a:rPr lang="en-US" sz="1300" i="1" dirty="0">
                <a:solidFill>
                  <a:srgbClr val="6B5C56"/>
                </a:solidFill>
                <a:latin typeface="Calibri" pitchFamily="34" charset="0"/>
              </a:rPr>
              <a:t>, balance, </a:t>
            </a:r>
            <a:r>
              <a:rPr lang="en-US" sz="1300" i="1" dirty="0" err="1">
                <a:solidFill>
                  <a:srgbClr val="6B5C56"/>
                </a:solidFill>
                <a:latin typeface="Calibri" pitchFamily="34" charset="0"/>
              </a:rPr>
              <a:t>tenture</a:t>
            </a:r>
            <a:r>
              <a:rPr lang="en-US" sz="1300" i="1" dirty="0">
                <a:solidFill>
                  <a:srgbClr val="6B5C56"/>
                </a:solidFill>
                <a:latin typeface="Calibri" pitchFamily="34" charset="0"/>
              </a:rPr>
              <a:t>, age, and gender) (shown in step 9 of notebook)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B25D9E7-C806-A2C3-76AE-EFB137491C17}"/>
              </a:ext>
            </a:extLst>
          </p:cNvPr>
          <p:cNvSpPr/>
          <p:nvPr/>
        </p:nvSpPr>
        <p:spPr>
          <a:xfrm>
            <a:off x="830582" y="3083792"/>
            <a:ext cx="4614530" cy="870617"/>
          </a:xfrm>
          <a:prstGeom prst="roundRect">
            <a:avLst>
              <a:gd name="adj" fmla="val 3200"/>
            </a:avLst>
          </a:prstGeom>
          <a:solidFill>
            <a:srgbClr val="8E1B26"/>
          </a:solidFill>
          <a:ln/>
        </p:spPr>
        <p:txBody>
          <a:bodyPr/>
          <a:lstStyle/>
          <a:p>
            <a:pPr algn="ctr">
              <a:spcAft>
                <a:spcPts val="1000"/>
              </a:spcAft>
              <a:buSzPct val="100000"/>
            </a:pPr>
            <a:r>
              <a:rPr lang="en-US" sz="1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call_ct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dramatically imbalanced: Email A averages 0.06 calls per advisor vs. 2.09 for Email B (Welch’s t = –599.9, p &lt; 0.0001).</a:t>
            </a: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66015ABA-A897-F638-CA97-3562F2B8DF8A}"/>
              </a:ext>
            </a:extLst>
          </p:cNvPr>
          <p:cNvSpPr/>
          <p:nvPr/>
        </p:nvSpPr>
        <p:spPr>
          <a:xfrm>
            <a:off x="830582" y="1993719"/>
            <a:ext cx="4614530" cy="870617"/>
          </a:xfrm>
          <a:prstGeom prst="roundRect">
            <a:avLst>
              <a:gd name="adj" fmla="val 3200"/>
            </a:avLst>
          </a:prstGeom>
          <a:solidFill>
            <a:srgbClr val="8E1B26"/>
          </a:solidFill>
          <a:ln/>
        </p:spPr>
        <p:txBody>
          <a:bodyPr/>
          <a:lstStyle/>
          <a:p>
            <a:pPr algn="ctr">
              <a:spcAft>
                <a:spcPts val="1000"/>
              </a:spcAft>
              <a:buSzPct val="100000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 narratives: 15499</a:t>
            </a:r>
          </a:p>
          <a:p>
            <a:pPr algn="ctr">
              <a:spcAft>
                <a:spcPts val="1000"/>
              </a:spcAft>
              <a:buSzPct val="100000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 narratives: 21799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256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Creative Affect Access to Sign-Up?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z-test on advisors who reached the “welcome” page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2331720"/>
            <a:ext cx="4206240" cy="2651760"/>
          </a:xfrm>
          <a:prstGeom prst="roundRect">
            <a:avLst>
              <a:gd name="adj" fmla="val 2759"/>
            </a:avLst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310641" y="2772971"/>
            <a:ext cx="4206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0.42%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37833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  –  65 of 15,499 advisors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31720"/>
            <a:ext cx="4206240" cy="2651760"/>
          </a:xfrm>
          <a:prstGeom prst="roundRect">
            <a:avLst>
              <a:gd name="adj" fmla="val 2759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75120" y="2772971"/>
            <a:ext cx="4206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0.42%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964326" y="2439321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  –  92 of 21,799 advisors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80160" y="5257800"/>
            <a:ext cx="9601200" cy="845288"/>
          </a:xfrm>
          <a:prstGeom prst="roundRect">
            <a:avLst>
              <a:gd name="adj" fmla="val 14545"/>
            </a:avLst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281223" y="5484061"/>
            <a:ext cx="9601200" cy="34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–0.04     p ≈ 0.97   →   No statistically significant difference. 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creative does not impact whether an advisor accesses the sign-up.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4B40B938-37A8-E5A0-E5E5-905BB4348C10}"/>
              </a:ext>
            </a:extLst>
          </p:cNvPr>
          <p:cNvSpPr/>
          <p:nvPr/>
        </p:nvSpPr>
        <p:spPr>
          <a:xfrm>
            <a:off x="10279557" y="941832"/>
            <a:ext cx="1828800" cy="320040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Code in step 7 of notebook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256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Creative Affect Enrollment?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z-test, restricted to enrollments within the 7/30–8/29 measurement window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233172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2496312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0.007%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050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  –  1 of 15,499 advisors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3172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75120" y="2496312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0.041%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4050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  –  9 of 21,799 advisors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80160" y="4892040"/>
            <a:ext cx="9601200" cy="868680"/>
          </a:xfrm>
          <a:prstGeom prst="roundRect">
            <a:avLst>
              <a:gd name="adj" fmla="val 14545"/>
            </a:avLst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508760" y="4892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–2.03     p ≈ 0.043   →   Statistically significant.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 built on only 10 enrollment events combined.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806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total enrollment during this period, 16 out of 26 came from no email.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A3C40A55-E9BE-216A-DF4A-DD10072C7BCC}"/>
              </a:ext>
            </a:extLst>
          </p:cNvPr>
          <p:cNvSpPr/>
          <p:nvPr/>
        </p:nvSpPr>
        <p:spPr>
          <a:xfrm>
            <a:off x="10279557" y="941832"/>
            <a:ext cx="1828800" cy="448056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Code in steps 6 &amp; 7 of notebook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256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So, What Was the Outcome?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11247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sign-up: no difference between creatives, the email isn’t what drives (or blocks) advisors from starting enrollment.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Email B shows a real, statistically significant lift, but on a base of only 10 total events.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randomization itself shows a real imbalance in prior call activity between email creative advisors. All other demographic are statistically equivalent between creatives.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4890499"/>
            <a:ext cx="11247120" cy="842481"/>
          </a:xfrm>
          <a:prstGeom prst="roundRect">
            <a:avLst>
              <a:gd name="adj" fmla="val 14545"/>
            </a:avLst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5074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Final-Conclusion:  </a:t>
            </a:r>
            <a:r>
              <a:rPr lang="en-US" sz="1600" b="1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 positive for Email B. However, not yet strong enough on its own to declare a confident winner. A longer email testing window would be able to show a more conclusive outcome.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359108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B3F329-CBC8-2EB2-B673-4DEF91B493BF}"/>
              </a:ext>
            </a:extLst>
          </p:cNvPr>
          <p:cNvSpPr/>
          <p:nvPr/>
        </p:nvSpPr>
        <p:spPr>
          <a:xfrm>
            <a:off x="3048" y="-33391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D54AFE3-6DE1-EA00-A82C-6295BD13A394}"/>
              </a:ext>
            </a:extLst>
          </p:cNvPr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C0F6FBA5-2E62-38F0-CA40-87F51DBE3265}"/>
              </a:ext>
            </a:extLst>
          </p:cNvPr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B1CC6A5-AD04-2803-600B-48DA9931994F}"/>
              </a:ext>
            </a:extLst>
          </p:cNvPr>
          <p:cNvSpPr/>
          <p:nvPr/>
        </p:nvSpPr>
        <p:spPr>
          <a:xfrm>
            <a:off x="396240" y="258087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7A0EAC-A1EF-EF0D-1B4A-4FE8D2CC3424}"/>
              </a:ext>
            </a:extLst>
          </p:cNvPr>
          <p:cNvSpPr txBox="1"/>
          <p:nvPr/>
        </p:nvSpPr>
        <p:spPr>
          <a:xfrm>
            <a:off x="411480" y="256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77DA-D2BF-816A-7E16-8D508C4410E2}"/>
              </a:ext>
            </a:extLst>
          </p:cNvPr>
          <p:cNvSpPr txBox="1"/>
          <p:nvPr/>
        </p:nvSpPr>
        <p:spPr>
          <a:xfrm>
            <a:off x="0" y="2721114"/>
            <a:ext cx="121889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414"/>
                </a:solidFill>
                <a:latin typeface="Cambria" pitchFamily="34" charset="0"/>
              </a:rPr>
              <a:t>A deeper dive into the testing window</a:t>
            </a:r>
            <a:endParaRPr lang="en-US" sz="40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98045D49-B14E-5E5C-232E-B973508C6028}"/>
              </a:ext>
            </a:extLst>
          </p:cNvPr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2D700E31-66E4-7B5C-3103-0B9C2C2F2CFA}"/>
              </a:ext>
            </a:extLst>
          </p:cNvPr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14764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7">
            <a:extLst>
              <a:ext uri="{FF2B5EF4-FFF2-40B4-BE49-F238E27FC236}">
                <a16:creationId xmlns:a16="http://schemas.microsoft.com/office/drawing/2014/main" id="{A34EB8AB-4763-3C49-CA65-66242D00154A}"/>
              </a:ext>
            </a:extLst>
          </p:cNvPr>
          <p:cNvSpPr/>
          <p:nvPr/>
        </p:nvSpPr>
        <p:spPr>
          <a:xfrm>
            <a:off x="8458200" y="2433898"/>
            <a:ext cx="3383280" cy="2142674"/>
          </a:xfrm>
          <a:prstGeom prst="roundRect">
            <a:avLst>
              <a:gd name="adj" fmla="val 3200"/>
            </a:avLst>
          </a:prstGeom>
          <a:solidFill>
            <a:srgbClr val="8E1B2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256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 Extends Well Beyond the Campaign Window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2359152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 of 143</a:t>
            </a:r>
            <a:endParaRPr lang="en-US" sz="46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778240" y="3959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 (82%) happened outside the 1-month campaign window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8595360" y="4709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testing period shows larger affect a creative would have on both the enrollment process and sign-up. It would also give a greater population to measure the difference the creatives show.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54E998B1-5AC8-42D9-2A52-DBF2797C2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89753"/>
            <a:ext cx="7955280" cy="5044270"/>
          </a:xfrm>
          <a:prstGeom prst="rect">
            <a:avLst/>
          </a:prstGeom>
        </p:spPr>
      </p:pic>
      <p:sp>
        <p:nvSpPr>
          <p:cNvPr id="18" name="Shape 1">
            <a:extLst>
              <a:ext uri="{FF2B5EF4-FFF2-40B4-BE49-F238E27FC236}">
                <a16:creationId xmlns:a16="http://schemas.microsoft.com/office/drawing/2014/main" id="{B58F5670-B43F-7219-2EA5-EB8EEDDBD438}"/>
              </a:ext>
            </a:extLst>
          </p:cNvPr>
          <p:cNvSpPr/>
          <p:nvPr/>
        </p:nvSpPr>
        <p:spPr>
          <a:xfrm>
            <a:off x="10279557" y="941832"/>
            <a:ext cx="1828800" cy="470916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Code in steps 3 &amp; 10 of notebook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256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Enrolled Advisors Have No Tracked Web Visit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7589520" y="214884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589520" y="2313432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143 enrolled advisors (34) show any tracked web activity in the measurement window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8463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5C56"/>
                </a:solidFill>
                <a:latin typeface="Calibri" pitchFamily="34" charset="0"/>
                <a:cs typeface="Calibri" pitchFamily="34" charset="-120"/>
              </a:rPr>
              <a:t>The email creatives use web tracking to determine the outcome of an email and the enrollment process. A longer testing period would provide a greater web tracking statistic. During the testing period only 61.5% came outside the web tracking.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F9568E-C179-54DC-C63C-D52768591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799241"/>
            <a:ext cx="4114800" cy="4140568"/>
          </a:xfrm>
          <a:prstGeom prst="rect">
            <a:avLst/>
          </a:prstGeom>
        </p:spPr>
      </p:pic>
      <p:sp>
        <p:nvSpPr>
          <p:cNvPr id="16" name="Shape 1">
            <a:extLst>
              <a:ext uri="{FF2B5EF4-FFF2-40B4-BE49-F238E27FC236}">
                <a16:creationId xmlns:a16="http://schemas.microsoft.com/office/drawing/2014/main" id="{2B97676C-1747-A422-D380-A4DD93E9FF6A}"/>
              </a:ext>
            </a:extLst>
          </p:cNvPr>
          <p:cNvSpPr/>
          <p:nvPr/>
        </p:nvSpPr>
        <p:spPr>
          <a:xfrm>
            <a:off x="10279557" y="941832"/>
            <a:ext cx="1828800" cy="47229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Code in steps 6 &amp; 10 of notebook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93405" y="269748"/>
            <a:ext cx="2097804" cy="358849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393405" y="257148"/>
            <a:ext cx="2097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These Results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11247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 is not a conclusive winner — the in-window result is real but by a thin margin.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creative must be chosen today, while not conclusive, Email B is a better performer than Email A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scaling Email B, re-run the comparison once the current cohort has had more time to enroll — most enrollment happens well after initial contact.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 investigate the sign-ups without a tracked web usage.</a:t>
            </a:r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2140334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256032"/>
            <a:ext cx="2140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Other Data Would Help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11247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(not just dated) web hits, to reconstruct real session paths and true funnel timing.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phone, app, and call-center enrollments, so that channel can be attributed to a campaign arm from non-web users.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on how the campaign assignment process ran, to confirm whether the call_ct imbalance was random noise or a targeting issue.</a:t>
            </a:r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cs typeface="Calibri" pitchFamily="34" charset="-120"/>
              </a:rPr>
              <a:t>Understanding the call to action of each email narrative.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post-campaign observation window (90+ days), since enrollment is a slow, lagging outcome relative to a 1-month send window.</a:t>
            </a:r>
          </a:p>
          <a:p>
            <a:pPr>
              <a:spcAft>
                <a:spcPts val="1800"/>
              </a:spcAft>
              <a:buSzPct val="100000"/>
            </a:pP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79" y="256032"/>
            <a:ext cx="2150967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256032"/>
            <a:ext cx="21509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the Next Experiment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11247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randomization by prior engagement (call_ct, logon_ct) so groups start balanced, rather than relying on chance with a large-but-rare outcome.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enrollment measurement window, or track enrollment continuously post-send rather than tying it to the 1-month send window.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non-web enrollments with a source/channel so they can be attributed back to the email campaign.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a larger sample or longer test duration: at a ~0.01–0.04% enrollment rate, tens of thousands of advisors barely produces double-digit events.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8E1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560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A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256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292840" y="182880"/>
            <a:ext cx="502920" cy="50292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365760"/>
            <a:ext cx="137160" cy="137160"/>
          </a:xfrm>
          <a:prstGeom prst="ellipse">
            <a:avLst/>
          </a:prstGeom>
          <a:solidFill>
            <a:srgbClr val="C6A1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0241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Analysis Was Built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11247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(SQLite): extract → clean → join the three source files into per-advisor tables.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scipy, statsmodels): two-proportion z-tests, confidence intervals, and Welch’s t-tests for the randomization check.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Tableau: visualizations built directly on the cleaned, joined export.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·  CDAO – FINANCIAL ADVISOR SERVICES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C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VANGUARD    |    CHIEF DATA &amp; ANALYTICS OFFICE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1464</Words>
  <Application>Microsoft Macintosh PowerPoint</Application>
  <PresentationFormat>Widescreen</PresentationFormat>
  <Paragraphs>159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Lostracco, Julianna</cp:lastModifiedBy>
  <cp:revision>6</cp:revision>
  <dcterms:created xsi:type="dcterms:W3CDTF">2026-09-22T04:40:23Z</dcterms:created>
  <dcterms:modified xsi:type="dcterms:W3CDTF">2026-09-23T05:01:46Z</dcterms:modified>
</cp:coreProperties>
</file>